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5" r:id="rId10"/>
    <p:sldId id="263" r:id="rId11"/>
    <p:sldId id="26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162" autoAdjust="0"/>
  </p:normalViewPr>
  <p:slideViewPr>
    <p:cSldViewPr snapToGrid="0">
      <p:cViewPr>
        <p:scale>
          <a:sx n="66" d="100"/>
          <a:sy n="66" d="100"/>
        </p:scale>
        <p:origin x="900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451EFC-6989-431D-9BDF-DD206DB86CFE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4449DB-65CE-4088-96C5-888969C6A5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5526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CEBE0-5269-4394-8DD3-FDFF5DA24A40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AD72E-9AAF-44B5-A442-BA2AFFC1EA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5640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CEBE0-5269-4394-8DD3-FDFF5DA24A40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215AD72E-9AAF-44B5-A442-BA2AFFC1EA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14006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CEBE0-5269-4394-8DD3-FDFF5DA24A40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AD72E-9AAF-44B5-A442-BA2AFFC1EA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9684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CEBE0-5269-4394-8DD3-FDFF5DA24A40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AD72E-9AAF-44B5-A442-BA2AFFC1EA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4539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CEBE0-5269-4394-8DD3-FDFF5DA24A40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AD72E-9AAF-44B5-A442-BA2AFFC1EA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3177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CEBE0-5269-4394-8DD3-FDFF5DA24A40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AD72E-9AAF-44B5-A442-BA2AFFC1EA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9828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CEBE0-5269-4394-8DD3-FDFF5DA24A40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AD72E-9AAF-44B5-A442-BA2AFFC1EA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7283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CEBE0-5269-4394-8DD3-FDFF5DA24A40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AD72E-9AAF-44B5-A442-BA2AFFC1EA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6652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CEBE0-5269-4394-8DD3-FDFF5DA24A40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AD72E-9AAF-44B5-A442-BA2AFFC1EA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1196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CEBE0-5269-4394-8DD3-FDFF5DA24A40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AD72E-9AAF-44B5-A442-BA2AFFC1EA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6277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CEBE0-5269-4394-8DD3-FDFF5DA24A40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AD72E-9AAF-44B5-A442-BA2AFFC1EA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76686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CEBE0-5269-4394-8DD3-FDFF5DA24A40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AD72E-9AAF-44B5-A442-BA2AFFC1EA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07919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CEBE0-5269-4394-8DD3-FDFF5DA24A40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AD72E-9AAF-44B5-A442-BA2AFFC1EA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99954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CEBE0-5269-4394-8DD3-FDFF5DA24A40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AD72E-9AAF-44B5-A442-BA2AFFC1EA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53113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CEBE0-5269-4394-8DD3-FDFF5DA24A40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AD72E-9AAF-44B5-A442-BA2AFFC1EA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07830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CEBE0-5269-4394-8DD3-FDFF5DA24A40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AD72E-9AAF-44B5-A442-BA2AFFC1EA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06267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CEBE0-5269-4394-8DD3-FDFF5DA24A40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AD72E-9AAF-44B5-A442-BA2AFFC1EA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1575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20CEBE0-5269-4394-8DD3-FDFF5DA24A40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15AD72E-9AAF-44B5-A442-BA2AFFC1EA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9552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6836F-CBB3-4313-94F7-84103F158B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>
                <a:latin typeface="Arial Black" panose="020B0A04020102020204" pitchFamily="34" charset="0"/>
              </a:rPr>
              <a:t>HR ANALYTICS</a:t>
            </a:r>
          </a:p>
        </p:txBody>
      </p:sp>
    </p:spTree>
    <p:extLst>
      <p:ext uri="{BB962C8B-B14F-4D97-AF65-F5344CB8AC3E}">
        <p14:creationId xmlns:p14="http://schemas.microsoft.com/office/powerpoint/2010/main" val="4245215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1BDE7-7C70-4221-A8F2-2EFCA86E2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7143" y="661758"/>
            <a:ext cx="3074241" cy="806824"/>
          </a:xfrm>
        </p:spPr>
        <p:txBody>
          <a:bodyPr>
            <a:normAutofit/>
          </a:bodyPr>
          <a:lstStyle/>
          <a:p>
            <a:r>
              <a:rPr lang="en-IN" sz="2000" dirty="0">
                <a:latin typeface="Arial Black" panose="020B0A04020102020204" pitchFamily="34" charset="0"/>
              </a:rPr>
              <a:t>Key Highlights:-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5B736-5ABB-46F5-93C3-715B167DA7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6016" y="1333704"/>
            <a:ext cx="5736760" cy="5051612"/>
          </a:xfrm>
        </p:spPr>
        <p:txBody>
          <a:bodyPr>
            <a:normAutofit/>
          </a:bodyPr>
          <a:lstStyle/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Tenure – 10.78</a:t>
            </a: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Employees – 50k</a:t>
            </a: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Attrition Rate – 50.21%</a:t>
            </a: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Percent Salary Hike – 24.62%</a:t>
            </a: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 Life Balance Score – 2.5</a:t>
            </a: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Overtime Rate – 49.72%</a:t>
            </a: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Training Hour – 3.49</a:t>
            </a: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Salary – 26,015</a:t>
            </a: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Retention Rate – 49.79%</a:t>
            </a:r>
          </a:p>
          <a:p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9793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F3690-CBC3-49DD-8A46-64353AAE4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2361" y="1537852"/>
            <a:ext cx="10018713" cy="3990111"/>
          </a:xfrm>
        </p:spPr>
        <p:txBody>
          <a:bodyPr>
            <a:normAutofit fontScale="25000" lnSpcReduction="20000"/>
          </a:bodyPr>
          <a:lstStyle/>
          <a:p>
            <a:pPr>
              <a:lnSpc>
                <a:spcPct val="200000"/>
              </a:lnSpc>
            </a:pPr>
            <a:r>
              <a:rPr lang="en-US" sz="6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HR Analytics</a:t>
            </a:r>
            <a:r>
              <a:rPr lang="en-US" sz="6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(also called Workforce Analytics) is the practice of collecting, analyzing, and interpreting </a:t>
            </a:r>
            <a:r>
              <a:rPr lang="en-US" sz="6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employee data</a:t>
            </a:r>
            <a:r>
              <a:rPr lang="en-US" sz="6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support data-driven decision-making in human resources. The main goal is to </a:t>
            </a:r>
            <a:r>
              <a:rPr lang="en-US" sz="6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optimize workforce performance, improve employee work life experience, job satisfaction, and reduce attrition</a:t>
            </a:r>
            <a:r>
              <a:rPr lang="en-US" sz="6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sz="6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project focuses on analyzing key HR metrics, identifying patterns, and generating actionable insights that help organizations:-</a:t>
            </a:r>
          </a:p>
          <a:p>
            <a:pPr marL="457200" lvl="1" indent="0">
              <a:lnSpc>
                <a:spcPct val="200000"/>
              </a:lnSpc>
              <a:buNone/>
            </a:pPr>
            <a:r>
              <a:rPr lang="en-US" sz="6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Objectives:-</a:t>
            </a:r>
          </a:p>
          <a:p>
            <a:pPr marL="457200" lvl="1" indent="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6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Understand employee trends and workforce dynamics.</a:t>
            </a:r>
          </a:p>
          <a:p>
            <a:pPr marL="457200" lvl="1" indent="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6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Measure critical KPIs such as </a:t>
            </a:r>
            <a:r>
              <a:rPr kumimoji="0" lang="en-US" altLang="en-US" sz="6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Attrition Rate, Retention Rate, Average Tenure, Average Salary and Work-Life Balance, Hourly Rate, Average Working years</a:t>
            </a:r>
            <a:r>
              <a:rPr kumimoji="0" lang="en-US" altLang="en-US" sz="6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457200" lvl="1" indent="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6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Support strategic decisions in </a:t>
            </a:r>
            <a:r>
              <a:rPr kumimoji="0" lang="en-US" altLang="en-US" sz="6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recruitment, talent management, training, and employee engagement</a:t>
            </a:r>
            <a:r>
              <a:rPr kumimoji="0" lang="en-US" altLang="en-US" sz="6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457200" lvl="1" indent="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6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Forecast future workforce needs and identify risk areas like high attrition or low engagement.</a:t>
            </a: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1000" dirty="0">
              <a:latin typeface="Arial" panose="020B0604020202020204" pitchFamily="34" charset="0"/>
            </a:endParaRP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4086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FF9035-5E26-47E3-92CF-806E19AACC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540328"/>
            <a:ext cx="10018713" cy="4710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>
                <a:latin typeface="Arial Black" panose="020B0A04020102020204" pitchFamily="34" charset="0"/>
              </a:rPr>
              <a:t>Excel :-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EC2F55-614F-47C8-8AAB-2752063BBC03}"/>
              </a:ext>
            </a:extLst>
          </p:cNvPr>
          <p:cNvSpPr txBox="1"/>
          <p:nvPr/>
        </p:nvSpPr>
        <p:spPr>
          <a:xfrm>
            <a:off x="1484310" y="1011381"/>
            <a:ext cx="9047019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preparation:-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Using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 Query → Merge Queries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allowed me to combine </a:t>
            </a:r>
            <a:r>
              <a:rPr lang="en-US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hr1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hr2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into a single clean dataset.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While connecting </a:t>
            </a:r>
            <a:r>
              <a:rPr lang="en-US" sz="1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hr1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1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hr2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using </a:t>
            </a: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Employee ID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Excel Power Pivot continuously showed the error </a:t>
            </a: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“Relationship may be needed”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even after validating the data (no duplicates, no blanks, correct data types).</a:t>
            </a:r>
            <a:b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Due to Excel’s stricter relationship engine and row-uniqueness requirements, KPIs pulling columns from both tables were not evaluating correctly.</a:t>
            </a:r>
            <a:b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ensure accurate analysis, I used </a:t>
            </a: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 Query Merge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which creates a clean, single consolidated table. This eliminated relationship conflicts and ensured smooth KPI calculations.</a:t>
            </a:r>
            <a:endParaRPr lang="en-IN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41DBB3-41AA-40BE-8828-A8BA067412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0326" y="2001575"/>
            <a:ext cx="8811348" cy="285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063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394A0-9EEB-4D96-85FA-5C1340D1C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5335" y="416860"/>
            <a:ext cx="8305148" cy="591670"/>
          </a:xfrm>
        </p:spPr>
        <p:txBody>
          <a:bodyPr>
            <a:normAutofit/>
          </a:bodyPr>
          <a:lstStyle/>
          <a:p>
            <a:pPr algn="l"/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Excel Dashboard:-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826B3E-0773-4D8E-BF13-2CA781489B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5335" y="1108850"/>
            <a:ext cx="10252255" cy="488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2077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D50DA-C1F7-47E6-A161-7D8105044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7553" y="270850"/>
            <a:ext cx="7269724" cy="726141"/>
          </a:xfrm>
        </p:spPr>
        <p:txBody>
          <a:bodyPr>
            <a:normAutofit fontScale="90000"/>
          </a:bodyPr>
          <a:lstStyle/>
          <a:p>
            <a:pPr algn="l"/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 BI:-</a:t>
            </a:r>
            <a:b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preparation:-</a:t>
            </a:r>
            <a:b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DB01ED-4822-4F72-B8AA-E591AAB2F5F3}"/>
              </a:ext>
            </a:extLst>
          </p:cNvPr>
          <p:cNvSpPr txBox="1"/>
          <p:nvPr/>
        </p:nvSpPr>
        <p:spPr>
          <a:xfrm>
            <a:off x="1557617" y="1509040"/>
            <a:ext cx="9076765" cy="4168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8953020-7BB3-4A4E-B305-B225BD79EC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6698" y="736734"/>
            <a:ext cx="6657272" cy="3447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Loaded HR datasets (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hr1.xlsx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hr2.xlsx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into Power BI using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Get Data → Excel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Verified sheet names, column headers, and data ranges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Created separate queries for each dataset in Power Query Editor.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Transformation:-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Created columns (Using DAX) like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 Life balance range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Job satisfaction range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Year since last promotion bins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Derived Measures (Using DAX)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Attrition Rate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Attrition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Modelling:-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1BE152D-3278-460D-8FC0-16B5C36E15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1415" y="4024700"/>
            <a:ext cx="7349169" cy="2528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4789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A74CA-3ED8-4023-8D6B-854AB3A5A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976" y="268515"/>
            <a:ext cx="5579024" cy="696686"/>
          </a:xfrm>
        </p:spPr>
        <p:txBody>
          <a:bodyPr>
            <a:normAutofit/>
          </a:bodyPr>
          <a:lstStyle/>
          <a:p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 Bi Dashboard:-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14614E9-71E4-401A-B5AD-13D76FEBDE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7762" y="1161233"/>
            <a:ext cx="9483426" cy="5079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2591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44354C0-AB03-4C88-AFA8-EF292599F3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1234" y="3657600"/>
            <a:ext cx="7710366" cy="28632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417A8DD-422D-4F69-831B-100DB91ED4D0}"/>
              </a:ext>
            </a:extLst>
          </p:cNvPr>
          <p:cNvSpPr txBox="1"/>
          <p:nvPr/>
        </p:nvSpPr>
        <p:spPr>
          <a:xfrm>
            <a:off x="2017485" y="304800"/>
            <a:ext cx="8795657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Tableau:-</a:t>
            </a:r>
          </a:p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Preparation:-</a:t>
            </a:r>
          </a:p>
          <a:p>
            <a:pPr>
              <a:buFont typeface="Arial" panose="020B0604020202020204" pitchFamily="34" charset="0"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Loaded HR datasets (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hr1.xlsx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hr2.xlsx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into tableau using </a:t>
            </a:r>
            <a:r>
              <a:rPr lang="en-US" alt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Connect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→ To a file → MS Excel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Created relationship in data source pane on physical layer.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Transformation:-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Created columns calculated field like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 Life balance range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Job satisfaction range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Year since last promotion bins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Attrition Rate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Attrition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Data Modeling:-</a:t>
            </a:r>
          </a:p>
          <a:p>
            <a:pPr>
              <a:buFont typeface="Arial" panose="020B0604020202020204" pitchFamily="34" charset="0"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32790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C04A9CC-1811-4E4A-B557-7C0A35092ABF}"/>
              </a:ext>
            </a:extLst>
          </p:cNvPr>
          <p:cNvSpPr txBox="1"/>
          <p:nvPr/>
        </p:nvSpPr>
        <p:spPr>
          <a:xfrm>
            <a:off x="1799771" y="525659"/>
            <a:ext cx="96955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Tableau Dashboard :-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831F9DB-6362-4C0D-9396-026C81431A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6071" y="1244338"/>
            <a:ext cx="9539243" cy="4721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7691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4143C-C38D-481B-8867-3558F4A66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6088" y="524435"/>
            <a:ext cx="2738065" cy="484094"/>
          </a:xfrm>
        </p:spPr>
        <p:txBody>
          <a:bodyPr>
            <a:noAutofit/>
          </a:bodyPr>
          <a:lstStyle/>
          <a:p>
            <a:r>
              <a:rPr lang="en-I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DB649F-6B06-48AD-8389-EE21FF954C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8780" y="779929"/>
            <a:ext cx="10018713" cy="1680883"/>
          </a:xfrm>
        </p:spPr>
        <p:txBody>
          <a:bodyPr>
            <a:normAutofit/>
          </a:bodyPr>
          <a:lstStyle/>
          <a:p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4B01D78-D94F-4315-8DBF-E923C01DF9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9082" y="1008529"/>
            <a:ext cx="10354235" cy="1908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 DATA PREPARATION :-</a:t>
            </a:r>
          </a:p>
          <a:p>
            <a:pPr marL="285750" marR="0" lvl="0" indent="-28575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Data Import / Data Loading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Loaded raw Excel/CSV HR files (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hr1, hr2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into the SQL database.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Used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LOAD DATA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INSERT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or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import wizard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depending on the SQL tool.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Created two main tables:</a:t>
            </a:r>
          </a:p>
          <a:p>
            <a:pPr marL="457200" marR="0" lvl="1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hr1 → Employee Master Data</a:t>
            </a:r>
          </a:p>
          <a:p>
            <a:pPr marL="457200" marR="0" lvl="1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hr2 → HR Metrics / Performance / Salary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42F03A3-CD1F-40A7-A71E-136E27B308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5120" y="2716306"/>
            <a:ext cx="8381239" cy="3859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2586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346A403-6364-4823-8781-11FD0D8B7233}"/>
              </a:ext>
            </a:extLst>
          </p:cNvPr>
          <p:cNvSpPr txBox="1"/>
          <p:nvPr/>
        </p:nvSpPr>
        <p:spPr>
          <a:xfrm>
            <a:off x="1582057" y="682172"/>
            <a:ext cx="10247086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Insights:-</a:t>
            </a: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  Department-specific factors (workload, growth opportunities, management practices) have a stronger     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impact on attrition than company-wide policies.</a:t>
            </a:r>
          </a:p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Business Actions :</a:t>
            </a:r>
            <a:b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Retention strategies should be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department-focused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not generic.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 In attrition Rate vs Monthly income Compensation is a significant driver of employee turnover,        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particularly at early and mid-career levels.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Actions: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Targeted salary adjustments and incentive programs can reduce attrition in high-risk income segments.</a:t>
            </a: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 In Average working years by department 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lower tenure may indicate role misalignment, high stress, or    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limited growth opportunities.</a:t>
            </a:r>
            <a:b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Actions:</a:t>
            </a:r>
            <a:b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Improving career paths and internal mobility like internal job posting can stabilize workforce tenure.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Roles with poor work-life balance are more likely to experience disengagement and attrition.</a:t>
            </a:r>
            <a:b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Actions:</a:t>
            </a:r>
            <a:b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Redesigning workloads and offering flexible work policies can improve employee satisfaction and    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retention.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Employees who experience career stagnation are more likely to leave the organization.</a:t>
            </a:r>
            <a:b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Actions:</a:t>
            </a:r>
            <a:b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Clear promotion timelines and transparent career progression reduce turnover risk.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430147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1749</TotalTime>
  <Words>736</Words>
  <Application>Microsoft Office PowerPoint</Application>
  <PresentationFormat>Widescreen</PresentationFormat>
  <Paragraphs>96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Arial Black</vt:lpstr>
      <vt:lpstr>Calibri</vt:lpstr>
      <vt:lpstr>Corbel</vt:lpstr>
      <vt:lpstr>Parallax</vt:lpstr>
      <vt:lpstr>HR ANALYTICS</vt:lpstr>
      <vt:lpstr>Key Highlights:-</vt:lpstr>
      <vt:lpstr>PowerPoint Presentation</vt:lpstr>
      <vt:lpstr>PowerPoint Presentation</vt:lpstr>
      <vt:lpstr>Excel Dashboard:-</vt:lpstr>
      <vt:lpstr>Power BI:- Data preparation:- </vt:lpstr>
      <vt:lpstr>Power Bi Dashboard:-</vt:lpstr>
      <vt:lpstr>PowerPoint Presentation</vt:lpstr>
      <vt:lpstr>PowerPoint Presentation</vt:lpstr>
      <vt:lpstr>SQL:-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 ANALYTICS</dc:title>
  <dc:creator>aanchal ameta</dc:creator>
  <cp:lastModifiedBy>aanchal ameta</cp:lastModifiedBy>
  <cp:revision>26</cp:revision>
  <dcterms:created xsi:type="dcterms:W3CDTF">2025-12-02T07:17:55Z</dcterms:created>
  <dcterms:modified xsi:type="dcterms:W3CDTF">2025-12-30T11:52:33Z</dcterms:modified>
</cp:coreProperties>
</file>